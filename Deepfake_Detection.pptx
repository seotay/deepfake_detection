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2" r:id="rId6"/>
    <p:sldId id="261" r:id="rId7"/>
    <p:sldId id="264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4BAA8-481C-4B2F-80AE-5DEF772C7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560BF4F-4468-4304-B8A6-906DFFAD82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073003-AA81-4AA4-941B-DB224A975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D9DDE-37B2-4030-BA45-FDBE0F816143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EA3CFA-00E0-4095-B5F9-CAFF41EDA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F8803E-F899-4CD3-AEF9-14EFE0362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A7CE5-6D8A-4169-A2B9-4E4512E0D0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014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8A71F4-DA55-44F6-BB71-D68381BFA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632755-7F14-4265-B7C0-4424E053B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3FDB48-BD16-49E2-8111-C6F6D19F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D9DDE-37B2-4030-BA45-FDBE0F816143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79DFB6-C0FE-44C4-8AF4-EC5A499F7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D0A3F2-A7BC-4822-B4F2-C090EF1C5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A7CE5-6D8A-4169-A2B9-4E4512E0D0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141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3107C8-E0A2-44F8-8024-F3313BA19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1EAF7A-DD42-4D0B-92FE-AC35A80AF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105127-B031-4F4E-AB19-1E8C3C6BF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D9DDE-37B2-4030-BA45-FDBE0F816143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2EC118-5552-4FAC-B338-91643712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9DC58B-C291-4316-B507-0FEE517B8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A7CE5-6D8A-4169-A2B9-4E4512E0D0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66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2AC416-2755-4D58-926D-480991D5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8F8138-18B3-41CC-B4BB-4D0BDD5A40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61E8AB-061F-4586-A109-E2420E8D4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459EE1-0FD4-48F0-9158-78E2BD124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D9DDE-37B2-4030-BA45-FDBE0F816143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F9E68D-D319-4D24-8E97-1AACA78A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B7F0BA-7B21-491E-B0D7-12DF0C1A6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A7CE5-6D8A-4169-A2B9-4E4512E0D0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95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328AA3-5ACC-4200-934D-129B546FE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EE7501-7B68-44F7-9529-56953519D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32CD35-E28A-4765-8C42-783406871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86E869-FF92-4F28-87A2-6C4C45A6E0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8292D45-4D93-482D-9958-CD7C4E2D4E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4D70438-AF5D-44B4-AED2-E6EA5EC07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D9DDE-37B2-4030-BA45-FDBE0F816143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685EF86-2570-489E-9184-4964FE9C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D497598-F1A0-48D7-9875-17C89B48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A7CE5-6D8A-4169-A2B9-4E4512E0D0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159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01E90A-9911-4AC7-A112-DD0D180DC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CE9DA44-7303-43F0-ABAF-82969F3AD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D9DDE-37B2-4030-BA45-FDBE0F816143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4C9749-4671-4010-A4F8-6B8425E90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7902BE-5E4A-438A-A85D-8D37EA9DE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A7CE5-6D8A-4169-A2B9-4E4512E0D0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359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B57760B-4663-4529-9069-27818B4BF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D9DDE-37B2-4030-BA45-FDBE0F816143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FE7A687-48CD-43D1-8E83-C0B250A1F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03D1F5-7EB5-4788-B3B3-9CFC3944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A7CE5-6D8A-4169-A2B9-4E4512E0D0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340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4E8123-C770-48CB-8456-9F804D3FF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E438F0-74B3-4DBC-872A-36313031B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F16896-50E5-4180-8C8C-F0DA6DBED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E74434-3EC2-4B0C-87CE-894751FCC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D9DDE-37B2-4030-BA45-FDBE0F816143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2D3405-FA4B-4A69-93EE-D9F5F9AD4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186EF7-AE3E-4B4F-B6F3-9AE4C17A5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A7CE5-6D8A-4169-A2B9-4E4512E0D0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644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020F46-3008-45EC-8D3F-9A0FD3875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3CF70F8-8382-4C7D-A6E7-F1F69CECF6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8A1892-C23C-45D2-86D8-47EECAC78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41FD3E-E077-4DDF-9EDC-89DFE73B4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D9DDE-37B2-4030-BA45-FDBE0F816143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304235-7DBC-4A23-8F49-746C47A8D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624F36-F65D-4004-915E-DBF864B05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A7CE5-6D8A-4169-A2B9-4E4512E0D0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77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CA14FC-71FA-4F27-BB0B-72D924367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98F8D7-CEAD-489B-B28C-1623D1DF2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6C55E3-24D8-4E78-B309-36B148990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D9DDE-37B2-4030-BA45-FDBE0F816143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7075A7-79BB-4E1A-A667-6C3698565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7F6099-9454-4E39-9780-08288D196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A7CE5-6D8A-4169-A2B9-4E4512E0D0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230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7E563E9-E9C0-4FA2-AA71-40E896647E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5FC1D7B-3246-4725-95FF-0FFA89A19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844BB8-163F-436A-8C16-1159A345F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D9DDE-37B2-4030-BA45-FDBE0F816143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A41B21-B7FF-4B59-8E72-4B7D8F66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5F155E-AF29-4D9D-B535-000FE013D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A7CE5-6D8A-4169-A2B9-4E4512E0D0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2761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36325FC-544D-41AC-A472-B68B4AB40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BBBA87-AB3C-4229-96B7-4C4C4D2CF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2ECF6B-7A33-40C0-A547-190203A7CB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D9DDE-37B2-4030-BA45-FDBE0F816143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07F527-F2EE-4803-B1F2-E6243F3287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E73C39-4790-49D1-9CF0-1BE805EF78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A7CE5-6D8A-4169-A2B9-4E4512E0D0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1594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7650FE-72BD-4840-8082-E31AE3AE3F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0799" y="1554162"/>
            <a:ext cx="9863667" cy="4313237"/>
          </a:xfrm>
        </p:spPr>
        <p:txBody>
          <a:bodyPr>
            <a:normAutofit/>
          </a:bodyPr>
          <a:lstStyle/>
          <a:p>
            <a:r>
              <a:rPr lang="en-US" altLang="ko-KR" dirty="0"/>
              <a:t>Effort Model for Generalizable Deepfake Detection with </a:t>
            </a:r>
            <a:r>
              <a:rPr lang="en-US" altLang="ko-KR" i="0" dirty="0">
                <a:solidFill>
                  <a:srgbClr val="1F2328"/>
                </a:solidFill>
                <a:effectLst/>
              </a:rPr>
              <a:t>Orthogonal Subspace Decomposition</a:t>
            </a:r>
            <a:br>
              <a:rPr lang="en-US" altLang="ko-KR" b="1" i="0" dirty="0">
                <a:solidFill>
                  <a:srgbClr val="1F2328"/>
                </a:solidFill>
                <a:effectLst/>
                <a:latin typeface="-apple-system"/>
              </a:rPr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1812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22861-D7C1-4F5A-8CAC-D50CA3A9D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Pre-trained model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6A58E3-472D-467E-A7FC-CE6AAA95B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5819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Yan et al., "Effort: Efficient Orthogonal Modeling for Generalizable AI-Generated Image Detection", ICML 2025 (</a:t>
            </a:r>
            <a:r>
              <a:rPr lang="en-US" altLang="ko-KR" sz="2000" dirty="0" err="1"/>
              <a:t>arXiv</a:t>
            </a:r>
            <a:r>
              <a:rPr lang="en-US" altLang="ko-KR" sz="2000" dirty="0"/>
              <a:t>, Nov 2024).</a:t>
            </a:r>
            <a:endParaRPr lang="ko-KR" altLang="en-US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5B06C73-80FD-4E81-A21E-D5D8930E4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464" y="1537026"/>
            <a:ext cx="9516803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648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22861-D7C1-4F5A-8CAC-D50CA3A9D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Method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7D7B7C1-C65E-4272-88CF-0CFF9FE2A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79876"/>
            <a:ext cx="10515600" cy="269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056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22861-D7C1-4F5A-8CAC-D50CA3A9D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Method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46A58E3-472D-467E-A7FC-CE6AAA95BC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25600"/>
                <a:ext cx="10515600" cy="4229127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dirty="0"/>
                  <a:t>In this approach, the pre-trained weights of the self-attention layer are decompose using </a:t>
                </a:r>
                <a:r>
                  <a:rPr lang="en-US" altLang="ko-KR" sz="1800" b="1" dirty="0"/>
                  <a:t>Singular Value Decomposition (SVD)</a:t>
                </a:r>
                <a:r>
                  <a:rPr lang="en-US" altLang="ko-KR" sz="1800" dirty="0"/>
                  <a:t> to separate the knowledge </a:t>
                </a:r>
                <a:r>
                  <a:rPr lang="en-US" altLang="ko-KR" sz="1800" dirty="0" err="1"/>
                  <a:t>inoto</a:t>
                </a:r>
                <a:r>
                  <a:rPr lang="en-US" altLang="ko-KR" sz="1800" dirty="0"/>
                  <a:t> two distinct parts:</a:t>
                </a:r>
              </a:p>
              <a:p>
                <a:pPr marL="800100" lvl="1" indent="-342900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en-US" altLang="ko-KR" sz="1400" b="1" dirty="0"/>
                  <a:t>Freezing Principle Components</a:t>
                </a:r>
                <a:r>
                  <a:rPr lang="en-US" altLang="ko-KR" sz="1400" dirty="0"/>
                  <a:t>: The Principle Components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ko-KR" sz="1400" dirty="0"/>
                  <a:t>) which contain the general-purpose knowledge of the pre-trained model, are frozen to preserve the original foundation features.</a:t>
                </a:r>
              </a:p>
              <a:p>
                <a:pPr marL="800100" lvl="1" indent="-342900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en-US" altLang="ko-KR" sz="1400" b="1" dirty="0"/>
                  <a:t>Updating Residual Components</a:t>
                </a:r>
                <a:r>
                  <a:rPr lang="en-US" altLang="ko-KR" sz="1400" dirty="0"/>
                  <a:t>: Only the Residual Components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ko-KR" sz="1400" dirty="0"/>
                  <a:t>) which are hypothesized to capture features specifically relevant to Deepfakes, are targeted for updates during the tuning process.</a:t>
                </a:r>
                <a:endParaRPr lang="en-US" altLang="ko-KR" sz="18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b="1" dirty="0"/>
                  <a:t>Orthogonal Constraint for Generalization:</a:t>
                </a:r>
                <a:r>
                  <a:rPr lang="en-US" altLang="ko-KR" sz="1800" dirty="0"/>
                  <a:t> A key aspect of this method is maintaining </a:t>
                </a:r>
                <a:r>
                  <a:rPr lang="en-US" altLang="ko-KR" sz="1800" b="1" dirty="0"/>
                  <a:t>orthogonality</a:t>
                </a:r>
                <a:r>
                  <a:rPr lang="en-US" altLang="ko-KR" sz="1800" dirty="0"/>
                  <a:t> between the Residual and Principle components. 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dirty="0"/>
                  <a:t>By enforcing this orthogonal relationship, the model prevents the updated deepfake-specific information from interfering with the original knowledge, thereby ensuring robust </a:t>
                </a:r>
                <a:r>
                  <a:rPr lang="en-US" altLang="ko-KR" sz="1800" b="1" dirty="0"/>
                  <a:t>generalization performance</a:t>
                </a:r>
                <a:r>
                  <a:rPr lang="en-US" altLang="ko-KR" sz="1800" dirty="0"/>
                  <a:t> on unseen test datasets.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sz="1800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46A58E3-472D-467E-A7FC-CE6AAA95BC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25600"/>
                <a:ext cx="10515600" cy="4229127"/>
              </a:xfrm>
              <a:blipFill>
                <a:blip r:embed="rId2"/>
                <a:stretch>
                  <a:fillRect l="-290" r="-2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9134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22861-D7C1-4F5A-8CAC-D50CA3A9D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Train dataset &amp; Weights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6A58E3-472D-467E-A7FC-CE6AAA95B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800" y="3835598"/>
            <a:ext cx="10515600" cy="253153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/>
              <a:t>We utilized weights pre-trained on the </a:t>
            </a:r>
            <a:r>
              <a:rPr lang="en-US" altLang="ko-KR" sz="1800" b="1" dirty="0"/>
              <a:t>FF++ dataset.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/>
              <a:t>The pre-trained weights were further trained on the FF++ dataset, excluding the </a:t>
            </a:r>
            <a:r>
              <a:rPr lang="en-US" altLang="ko-KR" sz="1800" dirty="0" err="1"/>
              <a:t>DeepFakeDetection</a:t>
            </a:r>
            <a:r>
              <a:rPr lang="en-US" altLang="ko-KR" sz="1800" dirty="0"/>
              <a:t> fake data. We determined that the quality of images generated by </a:t>
            </a:r>
            <a:r>
              <a:rPr lang="en-US" altLang="ko-KR" sz="1800" dirty="0" err="1"/>
              <a:t>DeepFakeDetection</a:t>
            </a:r>
            <a:r>
              <a:rPr lang="en-US" altLang="ko-KR" sz="1800" dirty="0"/>
              <a:t> is </a:t>
            </a:r>
            <a:r>
              <a:rPr lang="en-US" altLang="ko-KR" sz="1800" b="1" dirty="0"/>
              <a:t>subpar compared to current state-of-the-art deepfakes</a:t>
            </a:r>
            <a:r>
              <a:rPr lang="en-US" altLang="ko-KR" sz="1800" dirty="0"/>
              <a:t>, making them less representative of modern deepfake characteristics.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44D7256-D63B-4683-AA99-4E744E2AB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593" y="1481469"/>
            <a:ext cx="4240807" cy="220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158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22861-D7C1-4F5A-8CAC-D50CA3A9D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Face Cropping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E67482DB-9716-4F02-93B7-09438623052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685800" y="1884475"/>
                <a:ext cx="10831620" cy="17931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Face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cropping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was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performed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using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a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pre-trained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YOLO</a:t>
                </a: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v8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model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based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on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a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rule-based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approach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:</a:t>
                </a: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800100" lvl="1" indent="-34290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+mj-ea"/>
                  <a:buAutoNum type="circleNumDbPlain"/>
                </a:pPr>
                <a:r>
                  <a:rPr kumimoji="0" lang="ko-KR" altLang="ko-KR" sz="14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Primary</a:t>
                </a:r>
                <a:r>
                  <a:rPr kumimoji="0" lang="ko-KR" altLang="ko-KR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4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Rule</a:t>
                </a:r>
                <a:r>
                  <a:rPr kumimoji="0" lang="ko-KR" altLang="ko-KR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: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Detect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faces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with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confidence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ko-KR" alt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≥</m:t>
                    </m:r>
                  </m:oMath>
                </a14:m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0.75.</a:t>
                </a:r>
              </a:p>
              <a:p>
                <a:pPr marL="800100" lvl="1" indent="-34290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+mj-ea"/>
                  <a:buAutoNum type="circleNumDbPlain"/>
                </a:pPr>
                <a:r>
                  <a:rPr kumimoji="0" lang="ko-KR" altLang="ko-KR" sz="14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Fallback</a:t>
                </a:r>
                <a:r>
                  <a:rPr kumimoji="0" lang="ko-KR" altLang="ko-KR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4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Rule</a:t>
                </a:r>
                <a:r>
                  <a:rPr kumimoji="0" lang="ko-KR" altLang="ko-KR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: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If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no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face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exceeds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0.75,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select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the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single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box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with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the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maximum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confidence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.</a:t>
                </a:r>
              </a:p>
              <a:p>
                <a:pPr marL="800100" lvl="1" indent="-34290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+mj-ea"/>
                  <a:buAutoNum type="circleNumDbPlain"/>
                </a:pPr>
                <a:r>
                  <a:rPr kumimoji="0" lang="ko-KR" altLang="ko-KR" sz="14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Scope</a:t>
                </a:r>
                <a:r>
                  <a:rPr kumimoji="0" lang="ko-KR" altLang="ko-KR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: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This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procedure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was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identical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for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both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train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and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test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sets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Google Sans Text"/>
                  </a:rPr>
                  <a:t>."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E67482DB-9716-4F02-93B7-0943862305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685800" y="1884475"/>
                <a:ext cx="10831620" cy="1793120"/>
              </a:xfrm>
              <a:prstGeom prst="rect">
                <a:avLst/>
              </a:prstGeom>
              <a:blipFill>
                <a:blip r:embed="rId2"/>
                <a:stretch>
                  <a:fillRect l="-39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2617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22861-D7C1-4F5A-8CAC-D50CA3A9D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Fine-tuning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FE1BFD0C-D6FD-4689-959B-2179AB76033B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838200" y="2281422"/>
                <a:ext cx="10185400" cy="1241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R="0" lvl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</a:pP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The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model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was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trained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by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updating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only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the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residual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weights</a:t>
                </a: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𝑊</m:t>
                    </m:r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kumimoji="0" lang="en-US" altLang="ko-KR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ko-KR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0" lang="en-US" altLang="ko-KR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R="0" lvl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</a:pP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During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optimization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,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we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utilized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a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ko-KR" altLang="ko-KR" sz="1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loss</a:t>
                </a:r>
                <a:r>
                  <a:rPr kumimoji="0" lang="ko-KR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:r>
                  <a:rPr kumimoji="0" lang="ko-KR" altLang="ko-KR" sz="1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function</a:t>
                </a:r>
                <a:r>
                  <a:rPr kumimoji="0" lang="ko-KR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:r>
                  <a:rPr kumimoji="0" lang="ko-KR" altLang="ko-KR" sz="1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designed</a:t>
                </a:r>
                <a:r>
                  <a:rPr kumimoji="0" lang="ko-KR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:r>
                  <a:rPr kumimoji="0" lang="ko-KR" altLang="ko-KR" sz="1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to</a:t>
                </a:r>
                <a:r>
                  <a:rPr kumimoji="0" lang="ko-KR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:r>
                  <a:rPr kumimoji="0" lang="ko-KR" altLang="ko-KR" sz="1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preserve</a:t>
                </a:r>
                <a:r>
                  <a:rPr kumimoji="0" lang="ko-KR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:r>
                  <a:rPr kumimoji="0" lang="ko-KR" altLang="ko-KR" sz="1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orthogonality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between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the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principle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and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residual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components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as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defined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by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SVD</a:t>
                </a: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.</a:t>
                </a: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FE1BFD0C-D6FD-4689-959B-2179AB7603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838200" y="2281422"/>
                <a:ext cx="10185400" cy="1241365"/>
              </a:xfrm>
              <a:prstGeom prst="rect">
                <a:avLst/>
              </a:prstGeom>
              <a:blipFill>
                <a:blip r:embed="rId2"/>
                <a:stretch>
                  <a:fillRect l="-419" b="-784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4110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22861-D7C1-4F5A-8CAC-D50CA3A9D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Inference</a:t>
            </a:r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7482DB-9716-4F02-93B7-0943862305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1200" y="1850202"/>
            <a:ext cx="10583091" cy="3157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ko-KR" sz="1800" b="1" dirty="0"/>
              <a:t>Preprocessing:</a:t>
            </a:r>
            <a:r>
              <a:rPr lang="en-US" altLang="ko-KR" sz="1800" dirty="0"/>
              <a:t> Faces are converted to RGB, resized to the target resolution, and normalized using CLIP-based mean/std.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ko-KR" sz="1800" b="1" dirty="0"/>
              <a:t>Aggregation:</a:t>
            </a:r>
            <a:r>
              <a:rPr lang="en-US" altLang="ko-KR" sz="1800" dirty="0"/>
              <a:t> For videos, probabilities from sampled frames are averaged to produce a final authenticity score.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ko-KR" sz="1800" b="1" dirty="0"/>
              <a:t>Output:</a:t>
            </a:r>
            <a:r>
              <a:rPr lang="en-US" altLang="ko-KR" sz="1800" dirty="0"/>
              <a:t> Results are mapped to a baseline CSV, ensuring 100% coverage by filling failure cases with a neutral 0.5 probability.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65393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401</Words>
  <Application>Microsoft Office PowerPoint</Application>
  <PresentationFormat>와이드스크린</PresentationFormat>
  <Paragraphs>25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-apple-system</vt:lpstr>
      <vt:lpstr>맑은 고딕</vt:lpstr>
      <vt:lpstr>Arial</vt:lpstr>
      <vt:lpstr>Cambria Math</vt:lpstr>
      <vt:lpstr>Wingdings</vt:lpstr>
      <vt:lpstr>Office 테마</vt:lpstr>
      <vt:lpstr>Effort Model for Generalizable Deepfake Detection with Orthogonal Subspace Decomposition </vt:lpstr>
      <vt:lpstr>Pre-trained model</vt:lpstr>
      <vt:lpstr>Method</vt:lpstr>
      <vt:lpstr>Method</vt:lpstr>
      <vt:lpstr>Train dataset &amp; Weights</vt:lpstr>
      <vt:lpstr>Face Cropping</vt:lpstr>
      <vt:lpstr>Fine-tuning</vt:lpstr>
      <vt:lpstr>Inference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Effort Model for Generalizable Deepfake Detection with Orthogonal Subspace Decomposition </dc:title>
  <dc:creator>USER</dc:creator>
  <cp:lastModifiedBy>USER</cp:lastModifiedBy>
  <cp:revision>11</cp:revision>
  <dcterms:created xsi:type="dcterms:W3CDTF">2026-02-08T08:25:30Z</dcterms:created>
  <dcterms:modified xsi:type="dcterms:W3CDTF">2026-02-08T08:55:36Z</dcterms:modified>
</cp:coreProperties>
</file>